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 Marketing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YuvaIntern Task 6 — Final Data Science Capstone Project</a:t>
            </a:r>
          </a:p>
          <a:p>
            <a:pPr>
              <a:defRPr sz="2000"/>
            </a:pPr>
            <a:r>
              <a:t>Bank Marketing Campaign Analysis and Subscription Prediction</a:t>
            </a:r>
          </a:p>
          <a:p>
            <a:pPr>
              <a:defRPr sz="2000"/>
            </a:pPr>
            <a:r>
              <a:t>Tools: Python, Pandas, NumPy, Seaborn,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Campaign teams have limited time and contact resources.</a:t>
            </a:r>
          </a:p>
          <a:p>
            <a:pPr>
              <a:defRPr sz="2000"/>
            </a:pPr>
            <a:r>
              <a:t>Analyze historical campaign outcomes to understand subscription patterns.</a:t>
            </a:r>
          </a:p>
          <a:p>
            <a:pPr>
              <a:defRPr sz="2000"/>
            </a:pPr>
            <a:r>
              <a:t>Evaluate a baseline model as decision support—not as an automatic customer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and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Inspect and prepare a reliable public dataset.</a:t>
            </a:r>
          </a:p>
          <a:p>
            <a:pPr>
              <a:defRPr sz="2000"/>
            </a:pPr>
            <a:r>
              <a:t>Explore class balance and group-level patterns.</a:t>
            </a:r>
          </a:p>
          <a:p>
            <a:pPr>
              <a:defRPr sz="2000"/>
            </a:pPr>
            <a:r>
              <a:t>Train a reproducible classification baseline.</a:t>
            </a:r>
          </a:p>
          <a:p>
            <a:pPr>
              <a:defRPr sz="2000"/>
            </a:pPr>
            <a:r>
              <a:t>Evaluate with precision, recall, F1-score, ROC-AUC and a confusion matrix.</a:t>
            </a:r>
          </a:p>
          <a:p>
            <a:pPr>
              <a:defRPr sz="2000"/>
            </a:pPr>
            <a:r>
              <a:t>Translate results into cautious, testable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Source: UCI Machine Learning Repository — Bank Marketing (ID 222).</a:t>
            </a:r>
          </a:p>
          <a:p>
            <a:pPr>
              <a:defRPr sz="2000"/>
            </a:pPr>
            <a:r>
              <a:t>Inspect data types, missing values, duplicates and target distribution.</a:t>
            </a:r>
          </a:p>
          <a:p>
            <a:pPr>
              <a:defRPr sz="2000"/>
            </a:pPr>
            <a:r>
              <a:t>Impute numeric and categorical missing values inside a pipeline.</a:t>
            </a:r>
          </a:p>
          <a:p>
            <a:pPr>
              <a:defRPr sz="2000"/>
            </a:pPr>
            <a:r>
              <a:t>Scale numeric features and one-hot encode categorical features.</a:t>
            </a:r>
          </a:p>
          <a:p>
            <a:pPr>
              <a:defRPr sz="2000"/>
            </a:pPr>
            <a:r>
              <a:t>Exclude call duration from pre-call prediction to avoid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Compare subscription rates across available campaign/customer groups.</a:t>
            </a:r>
          </a:p>
          <a:p>
            <a:pPr>
              <a:defRPr sz="2000"/>
            </a:pPr>
            <a:r>
              <a:t>Inspect numeric distributions and class balance.</a:t>
            </a:r>
          </a:p>
          <a:p>
            <a:pPr>
              <a:defRPr sz="2000"/>
            </a:pPr>
            <a:r>
              <a:t>Use visualizations to communicate patterns and guide further investigation.</a:t>
            </a:r>
          </a:p>
          <a:p>
            <a:pPr>
              <a:defRPr sz="2000"/>
            </a:pPr>
            <a:r>
              <a:t>Notebook calculates all findings directly from loaded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Baseline: class-balanced Logistic Regression.</a:t>
            </a:r>
          </a:p>
          <a:p>
            <a:pPr>
              <a:defRPr sz="2000"/>
            </a:pPr>
            <a:r>
              <a:t>Stratified train/test split.</a:t>
            </a:r>
          </a:p>
          <a:p>
            <a:pPr>
              <a:defRPr sz="2000"/>
            </a:pPr>
            <a:r>
              <a:t>Metrics: accuracy, precision, recall, F1-score and ROC-AUC.</a:t>
            </a:r>
          </a:p>
          <a:p>
            <a:pPr>
              <a:defRPr sz="2000"/>
            </a:pPr>
            <a:r>
              <a:t>Confusion matrix and ROC curve help inspect error trade-offs.</a:t>
            </a:r>
          </a:p>
          <a:p>
            <a:pPr>
              <a:defRPr sz="2000"/>
            </a:pPr>
            <a:r>
              <a:t>Choose thresholds based on campaign costs and business priorities.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Historical data may not reflect current campaign behavior.</a:t>
            </a:r>
          </a:p>
          <a:p>
            <a:pPr>
              <a:defRPr sz="2000"/>
            </a:pPr>
            <a:r>
              <a:t>Class imbalance can make accuracy misleading.</a:t>
            </a:r>
          </a:p>
          <a:p>
            <a:pPr>
              <a:defRPr sz="2000"/>
            </a:pPr>
            <a:r>
              <a:t>Association does not establish causation.</a:t>
            </a:r>
          </a:p>
          <a:p>
            <a:pPr>
              <a:defRPr sz="2000"/>
            </a:pPr>
            <a:r>
              <a:t>Excluding duration makes the use case more realistic for pre-call targeting.</a:t>
            </a:r>
          </a:p>
          <a:p>
            <a:pPr>
              <a:defRPr sz="2000"/>
            </a:pPr>
            <a:r>
              <a:t>This baseline is not a production-ready automated decision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Validate group patterns with sufficient sample sizes.</a:t>
            </a:r>
          </a:p>
          <a:p>
            <a:pPr>
              <a:defRPr sz="2000"/>
            </a:pPr>
            <a:r>
              <a:t>Test campaign changes through controlled experiments.</a:t>
            </a:r>
          </a:p>
          <a:p>
            <a:pPr>
              <a:defRPr sz="2000"/>
            </a:pPr>
            <a:r>
              <a:t>Compare Logistic Regression with tree-based models using cross-validation.</a:t>
            </a:r>
          </a:p>
          <a:p>
            <a:pPr>
              <a:defRPr sz="2000"/>
            </a:pPr>
            <a:r>
              <a:t>Monitor drift and subgroup performance.</a:t>
            </a:r>
          </a:p>
          <a:p>
            <a:pPr>
              <a:defRPr sz="2000"/>
            </a:pPr>
            <a:r>
              <a:t>Review privacy, consent, fairness and applicable marketing rules.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End-to-end workflow: business problem → data → EDA → preprocessing → model → evaluation → recommendations.</a:t>
            </a:r>
          </a:p>
          <a:p>
            <a:pPr>
              <a:defRPr sz="2000"/>
            </a:pPr>
            <a:r>
              <a:t>All metrics and plots are generated by running the notebook.</a:t>
            </a:r>
          </a:p>
          <a:p>
            <a:pPr>
              <a:defRPr sz="2000"/>
            </a:pPr>
            <a:r>
              <a:t>Use the report and notebook together for reproducibility.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